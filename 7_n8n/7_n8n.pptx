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41" r:id="rId2"/>
    <p:sldId id="642" r:id="rId3"/>
    <p:sldId id="257" r:id="rId4"/>
    <p:sldId id="644" r:id="rId5"/>
    <p:sldId id="645" r:id="rId6"/>
    <p:sldId id="728" r:id="rId7"/>
    <p:sldId id="730" r:id="rId8"/>
    <p:sldId id="729" r:id="rId9"/>
    <p:sldId id="731" r:id="rId10"/>
    <p:sldId id="732" r:id="rId11"/>
    <p:sldId id="739" r:id="rId12"/>
    <p:sldId id="740" r:id="rId13"/>
    <p:sldId id="643" r:id="rId14"/>
    <p:sldId id="646" r:id="rId15"/>
    <p:sldId id="6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E7D7-3811-D96B-1DD5-E13D9B477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FC47D-253C-CA43-6FE8-F00B4134D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B2F8-E85D-4576-D75A-1F1D9590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1EA9-27B9-4F8C-1ADA-1F396421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B377-4B6C-010C-069E-ABB01E65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4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89CC-4898-150F-D068-D78A1C93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D58C5-6830-7324-FAC4-4D5CD0418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5F1A4-5D16-7DA0-C8E7-2F467E4E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F9CFE-F5F7-7B2F-4E3C-4752B1D8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EE069-EF56-696F-1115-5D6683D0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367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0860-AC53-0867-924E-A1AF0CFC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9F587-3BA0-DE8D-9664-B56674F93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3DFAE-B7FD-E777-6EA6-CA94FCE3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A05A6-065E-2634-B5E4-6EE315E7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54294-D46E-F27F-3FD2-31A388DB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14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9972-B93F-0843-D105-E2A0DAC1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D26AF-F22E-590F-0B4A-D3A2C3218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9A93E-797A-C318-97BD-FF40D0289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4F55B-DF65-6600-86D5-7D5BD4E4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C1F57-AE19-C033-501D-91F3332A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4C2C7-0403-01F2-9870-FCED5F32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35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FA5B-2DF0-AB90-B3F6-5A8C14CA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551F0-4B3C-762C-BC51-5C35F332C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45980-6DA8-51DE-D669-41D6314FC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11571-342E-6E6E-BCB2-B5E803439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21EEE-8E3D-3393-1DEB-CCFD628BF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EABF-DA69-F539-097D-E4B37952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2D6F9-ACFF-511D-B35E-08696909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0F71B-814C-669F-0E19-CA8D4E7F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86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B021-19E3-27E0-5DF5-D08743F6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60E49-0F83-3151-3558-29F00895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B4ACA-7C19-4BB4-2505-169ED850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74574-1B8E-9131-DCF9-9E5120EB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27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7333F-DE58-76D1-D453-2BE27F75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DD29B-EB4A-4B4B-4F0F-36239359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72CD4-2ECE-F22B-05E8-9DA99C25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8408-454C-694F-4B2F-B0E17382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BED8-044D-0410-60AB-43C13103F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FA6C6-7CE1-7D14-ED00-2EAC80CA0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C3DAE-38CE-442B-19AF-E838C9842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E9B45-7155-5552-29D2-57C34CCF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A1588-838D-4DBB-1EB7-CBF34471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41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93B4-740A-EFE8-3E31-BD46560C3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18C7F-8B85-63E7-9C7A-C670F8E08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B92B5-2A97-F017-0ACC-CE3C3941A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B3A1E-8875-3195-B335-10206E7E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C9428-4DC4-B7EF-2A7E-DDE1E712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5EFF6-53E3-C046-3875-6AAD9C42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59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0178-889E-6374-A032-BEB48D4F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E27DA-F0C8-485D-5174-35EA53CB1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78D25-C6C5-3355-E581-48D28BC7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F2D86-ADFB-3FD1-9A26-0F03397D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1216-FD2D-6456-8522-3625C569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2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4B91F-599D-0518-4702-EBE7640DA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C9E2F-722C-6F50-A7E1-7107A0614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B26F5-0F78-69D2-6FCD-B11397DB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6FDD7-D7E2-F1E1-5979-DD447793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0909B-67F3-1E59-D3CC-274564C0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32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02B9A-E81E-76AE-C0D4-9AE9AC8CC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99BB0-E866-79D5-AAEC-A93CE5B8D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D2764-82E3-E01C-CAD4-DCEBB127D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10225-F219-4FD2-B957-BE29A5D11EF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704BC-35B2-8693-91A8-1B7412DC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B5CD-0890-7E07-C0D8-C18404853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61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n8n.cloud/regist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root@root.com" TargetMode="External"/><Relationship Id="rId2" Type="http://schemas.openxmlformats.org/officeDocument/2006/relationships/hyperlink" Target="https://docs.docker.com/get-started/get-dock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45A61A-C1AD-3A92-9FFE-545BAC3F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7) n8n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59AB7-3E06-30D7-8DD7-5F60DACD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098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87C9-FB54-C3A0-1182-74901B82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6C90-0D27-A46A-1E15-B434A5AC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n8n</a:t>
            </a:r>
            <a:r>
              <a:rPr lang="en-IN" noProof="0" dirty="0"/>
              <a:t>: Open source automation tool to connect different applications and services</a:t>
            </a:r>
          </a:p>
          <a:p>
            <a:r>
              <a:rPr lang="en-IN" noProof="0" dirty="0"/>
              <a:t>Name</a:t>
            </a:r>
          </a:p>
          <a:p>
            <a:pPr lvl="1"/>
            <a:r>
              <a:rPr lang="en-IN" noProof="0" dirty="0"/>
              <a:t>‘n’ -&gt; Stands for </a:t>
            </a:r>
            <a:r>
              <a:rPr lang="en-IN" i="1" noProof="0" dirty="0"/>
              <a:t>node</a:t>
            </a:r>
            <a:r>
              <a:rPr lang="en-IN" noProof="0" dirty="0"/>
              <a:t>, because n8n is built with Node.js</a:t>
            </a:r>
          </a:p>
          <a:p>
            <a:pPr lvl="1"/>
            <a:r>
              <a:rPr lang="en-IN" noProof="0" dirty="0"/>
              <a:t>‘8n’ -&gt; Shorthand for </a:t>
            </a:r>
            <a:r>
              <a:rPr lang="en-IN" i="1" noProof="0" dirty="0"/>
              <a:t>automation</a:t>
            </a:r>
          </a:p>
          <a:p>
            <a:pPr lvl="1"/>
            <a:r>
              <a:rPr lang="en-IN" noProof="0" dirty="0"/>
              <a:t>n + 8n = </a:t>
            </a:r>
            <a:r>
              <a:rPr lang="en-IN" noProof="0" dirty="0" err="1"/>
              <a:t>nodemation</a:t>
            </a:r>
            <a:r>
              <a:rPr lang="en-IN" noProof="0" dirty="0"/>
              <a:t> -&gt; node automation -&gt; n8n</a:t>
            </a:r>
          </a:p>
          <a:p>
            <a:r>
              <a:rPr lang="en-IN" noProof="0" dirty="0"/>
              <a:t>Why n8n?</a:t>
            </a:r>
          </a:p>
          <a:p>
            <a:pPr lvl="1"/>
            <a:r>
              <a:rPr lang="en-IN" noProof="0" dirty="0"/>
              <a:t>No coding needed</a:t>
            </a:r>
          </a:p>
          <a:p>
            <a:pPr lvl="1"/>
            <a:r>
              <a:rPr lang="en-IN" noProof="0" dirty="0"/>
              <a:t>Open source and free</a:t>
            </a:r>
          </a:p>
          <a:p>
            <a:pPr lvl="1"/>
            <a:r>
              <a:rPr lang="en-IN" noProof="0" dirty="0"/>
              <a:t>Many tool connections available out of the box</a:t>
            </a:r>
          </a:p>
          <a:p>
            <a:r>
              <a:rPr lang="en-IN" noProof="0" dirty="0"/>
              <a:t>Using n8n (https://n8n.io/pricing/)</a:t>
            </a:r>
          </a:p>
          <a:p>
            <a:pPr lvl="1"/>
            <a:r>
              <a:rPr lang="en-IN" noProof="0" dirty="0"/>
              <a:t>Hosting our applications on the cloud: Paid</a:t>
            </a:r>
          </a:p>
          <a:p>
            <a:pPr lvl="1"/>
            <a:r>
              <a:rPr lang="en-IN" noProof="0" dirty="0"/>
              <a:t>Hosting them on our local machine: Free</a:t>
            </a:r>
          </a:p>
        </p:txBody>
      </p:sp>
    </p:spTree>
    <p:extLst>
      <p:ext uri="{BB962C8B-B14F-4D97-AF65-F5344CB8AC3E}">
        <p14:creationId xmlns:p14="http://schemas.microsoft.com/office/powerpoint/2010/main" val="425454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A936-BC28-CAD9-87D1-EDC36035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Using/Installing n8n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9F110A-1A60-3EFD-9AF4-DC1B51C27B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4425" y="1825625"/>
          <a:ext cx="9623150" cy="4351337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095807">
                  <a:extLst>
                    <a:ext uri="{9D8B030D-6E8A-4147-A177-3AD203B41FA5}">
                      <a16:colId xmlns:a16="http://schemas.microsoft.com/office/drawing/2014/main" val="511352128"/>
                    </a:ext>
                  </a:extLst>
                </a:gridCol>
                <a:gridCol w="2753453">
                  <a:extLst>
                    <a:ext uri="{9D8B030D-6E8A-4147-A177-3AD203B41FA5}">
                      <a16:colId xmlns:a16="http://schemas.microsoft.com/office/drawing/2014/main" val="1722424692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939829176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197276270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021697091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Option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Description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Where it Runs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Prerequisites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License / Cost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61633191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Cloud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Sign up at </a:t>
                      </a:r>
                      <a:r>
                        <a:rPr lang="en-IN" sz="1600" noProof="0" dirty="0">
                          <a:hlinkClick r:id="rId2"/>
                        </a:rPr>
                        <a:t>app.n8n.cloud</a:t>
                      </a:r>
                      <a:r>
                        <a:rPr lang="en-IN" sz="1600" noProof="0" dirty="0"/>
                        <a:t> for a </a:t>
                      </a:r>
                      <a:r>
                        <a:rPr lang="en-IN" sz="1600" b="1" noProof="0" dirty="0"/>
                        <a:t>14-day free trial</a:t>
                      </a:r>
                      <a:r>
                        <a:rPr lang="en-IN" sz="1600" noProof="0" dirty="0"/>
                        <a:t> of the hosted n8n service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n8n Cloud (hosted by n8n team)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Just a browser and internet connection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Requires registration; subscription after trial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29868625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Docker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Run </a:t>
                      </a:r>
                      <a:r>
                        <a:rPr lang="en-IN" sz="1600" b="1" noProof="0" dirty="0"/>
                        <a:t>n8n Community Edition</a:t>
                      </a:r>
                      <a:r>
                        <a:rPr lang="en-IN" sz="1600" noProof="0" dirty="0"/>
                        <a:t> in a Docker container on our machine (https://docs.n8n.io/hosting/installation/docker/)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Our local machine (</a:t>
                      </a:r>
                      <a:r>
                        <a:rPr lang="en-IN" sz="1600" noProof="0" dirty="0" err="1"/>
                        <a:t>Dockerized</a:t>
                      </a:r>
                      <a:r>
                        <a:rPr lang="en-IN" sz="1600" noProof="0" dirty="0"/>
                        <a:t>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Docker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17450974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npm</a:t>
                      </a:r>
                      <a:endParaRPr lang="en-IN" sz="1600" b="1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Install </a:t>
                      </a:r>
                      <a:r>
                        <a:rPr lang="en-IN" sz="1600" b="1" noProof="0" dirty="0"/>
                        <a:t>n8n Community Edition</a:t>
                      </a:r>
                      <a:r>
                        <a:rPr lang="en-IN" sz="1600" noProof="0" dirty="0"/>
                        <a:t> using </a:t>
                      </a:r>
                      <a:r>
                        <a:rPr lang="en-IN" sz="1600" noProof="0" dirty="0" err="1"/>
                        <a:t>npm</a:t>
                      </a:r>
                      <a:r>
                        <a:rPr lang="en-IN" sz="1600" noProof="0" dirty="0"/>
                        <a:t> and run it directly from Node.js (https://docs.n8n.io/hosting/installation/npm/)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Our local machine (Node.js runtime)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Node.js + </a:t>
                      </a:r>
                      <a:r>
                        <a:rPr lang="en-IN" sz="1600" noProof="0" dirty="0" err="1"/>
                        <a:t>npm</a:t>
                      </a:r>
                      <a:r>
                        <a:rPr lang="en-IN" sz="1600" noProof="0" dirty="0"/>
                        <a:t>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10983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9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20FD-C583-4DC1-520F-8CA6D52B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A56D-F4E6-2E85-D9B2-AE50BB330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Install Docker: </a:t>
            </a:r>
            <a:r>
              <a:rPr lang="en-IN" noProof="0" dirty="0">
                <a:hlinkClick r:id="rId2"/>
              </a:rPr>
              <a:t>https://docs.docker.com/get-started/get-docker/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docker volume create n8n_data</a:t>
            </a:r>
          </a:p>
          <a:p>
            <a:r>
              <a:rPr lang="en-IN" noProof="0" dirty="0"/>
              <a:t>docker run -it --rm  --name n8n  -p 5678:5678  -e GENERIC_TIMEZONE="Asia/Calcutta" -e TZ="Asia/Calcutta"  -e N8N_ENFORCE_SETTINGS_FILE_PERMISSIONS=true  -e N8N_RUNNERS_ENABLED=true -v n8n_data:/home/node/.n8n  -v C:/Users/akaha/myfiles:/files docker.n8n.io/n8nio/n8n</a:t>
            </a:r>
          </a:p>
          <a:p>
            <a:endParaRPr lang="en-IN" noProof="0" dirty="0"/>
          </a:p>
          <a:p>
            <a:r>
              <a:rPr lang="en-IN" noProof="0" dirty="0"/>
              <a:t>To update it to the latest image: Once it starts running, open Docker Desktop -&gt; Images -&gt; docker.n8n.io … -&gt; Actions -&gt; pull</a:t>
            </a:r>
          </a:p>
          <a:p>
            <a:endParaRPr lang="en-IN" noProof="0" dirty="0"/>
          </a:p>
          <a:p>
            <a:r>
              <a:rPr lang="en-IN" noProof="0" dirty="0"/>
              <a:t>Browser: localhost:5678</a:t>
            </a:r>
          </a:p>
          <a:p>
            <a:pPr lvl="1"/>
            <a:r>
              <a:rPr lang="en-IN" noProof="0" dirty="0"/>
              <a:t>Email: Dummy (</a:t>
            </a:r>
            <a:r>
              <a:rPr lang="en-IN" noProof="0" dirty="0">
                <a:hlinkClick r:id="rId3"/>
              </a:rPr>
              <a:t>root@root.com</a:t>
            </a:r>
            <a:r>
              <a:rPr lang="en-IN" noProof="0" dirty="0"/>
              <a:t>)</a:t>
            </a:r>
          </a:p>
          <a:p>
            <a:pPr lvl="1"/>
            <a:r>
              <a:rPr lang="en-IN" noProof="0" dirty="0"/>
              <a:t>First Name: Dummy (Atul)</a:t>
            </a:r>
          </a:p>
          <a:p>
            <a:pPr lvl="1"/>
            <a:r>
              <a:rPr lang="en-IN" noProof="0" dirty="0"/>
              <a:t>Last Name: Dummy (Kahate)</a:t>
            </a:r>
          </a:p>
          <a:p>
            <a:pPr lvl="1"/>
            <a:r>
              <a:rPr lang="en-IN" noProof="0" dirty="0"/>
              <a:t>Password: Dummy (Root@1234)</a:t>
            </a:r>
          </a:p>
          <a:p>
            <a:pPr lvl="1"/>
            <a:r>
              <a:rPr lang="en-IN" noProof="0" dirty="0"/>
              <a:t>After the first screen -&gt; Send me a free licensed key -&gt; Enter our real email id to receive it -&gt; Get the key -&gt; Usage and plan -&gt; Paste key</a:t>
            </a:r>
          </a:p>
          <a:p>
            <a:pPr lvl="1"/>
            <a:endParaRPr lang="en-IN" noProof="0" dirty="0"/>
          </a:p>
          <a:p>
            <a:r>
              <a:rPr lang="en-IN" noProof="0" dirty="0"/>
              <a:t>Production hosting: n8n cloud, </a:t>
            </a:r>
            <a:r>
              <a:rPr lang="en-IN" noProof="0" dirty="0" err="1"/>
              <a:t>hostinger</a:t>
            </a:r>
            <a:r>
              <a:rPr lang="en-IN" noProof="0" dirty="0"/>
              <a:t> VPS/cloud, render/railway, etc</a:t>
            </a:r>
          </a:p>
        </p:txBody>
      </p:sp>
    </p:spTree>
    <p:extLst>
      <p:ext uri="{BB962C8B-B14F-4D97-AF65-F5344CB8AC3E}">
        <p14:creationId xmlns:p14="http://schemas.microsoft.com/office/powerpoint/2010/main" val="313353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FE71-A937-B299-557F-F059C5AB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B9FE1DE-1258-5B9F-4A95-51750C6005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035">
                  <a:extLst>
                    <a:ext uri="{9D8B030D-6E8A-4147-A177-3AD203B41FA5}">
                      <a16:colId xmlns:a16="http://schemas.microsoft.com/office/drawing/2014/main" val="944232833"/>
                    </a:ext>
                  </a:extLst>
                </a:gridCol>
                <a:gridCol w="7919565">
                  <a:extLst>
                    <a:ext uri="{9D8B030D-6E8A-4147-A177-3AD203B41FA5}">
                      <a16:colId xmlns:a16="http://schemas.microsoft.com/office/drawing/2014/main" val="258699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2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1_basic_chatbot*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 a Google Gemini AI LLM to respond to user’s chat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5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2_chatbot_with_tool_and_memory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 a Wikipedia tool and memory to the chatbot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5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3_webhook_search_amazon*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Use a Webhook, Postman, </a:t>
                      </a:r>
                      <a:r>
                        <a:rPr lang="en-IN" noProof="0" dirty="0" err="1"/>
                        <a:t>Serp</a:t>
                      </a:r>
                      <a:r>
                        <a:rPr lang="en-IN" noProof="0" dirty="0"/>
                        <a:t> Search to allow the user to search for something in Amazon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042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4_form_sheet_email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Create a form for users and save data in Google Sheets and send an acknowledgement to the user over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0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5_read_cheque*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Fetch a cheque image from Google Drive and read its contents, extract in JSON format and store in an </a:t>
                      </a:r>
                      <a:r>
                        <a:rPr lang="en-IN" noProof="0" dirty="0" err="1"/>
                        <a:t>Airtable</a:t>
                      </a:r>
                      <a:r>
                        <a:rPr lang="en-IN" noProof="0" dirty="0"/>
                        <a:t>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5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20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E3C5-F902-19B0-E0CB-A4AD2D12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1_basic_chatbot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5102-D762-BEC6-BCA5-2435B7B9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Create workflow</a:t>
            </a:r>
          </a:p>
          <a:p>
            <a:r>
              <a:rPr lang="en-IN" noProof="0" dirty="0"/>
              <a:t>Add first step-&gt;  + Symbol  -&gt; On chat message</a:t>
            </a:r>
          </a:p>
          <a:p>
            <a:r>
              <a:rPr lang="en-IN" noProof="0" dirty="0"/>
              <a:t>Click + symbol after On chat message component</a:t>
            </a:r>
          </a:p>
          <a:p>
            <a:r>
              <a:rPr lang="en-IN" noProof="0" dirty="0"/>
              <a:t>AI -&gt; AI Agent -&gt; Chat Model: Gemini</a:t>
            </a:r>
          </a:p>
          <a:p>
            <a:r>
              <a:rPr lang="en-IN" noProof="0" dirty="0"/>
              <a:t>Configure Gemini API Key</a:t>
            </a:r>
          </a:p>
          <a:p>
            <a:r>
              <a:rPr lang="en-IN" noProof="0" dirty="0"/>
              <a:t>Test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98697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48D5-663B-8EF4-62C4-2B2C9EC5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ED86-A08E-9A80-21AE-4B1D9C5B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3_webhook_search_amazon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D7236-247F-222A-E54B-DABDF478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In a new workflow, add Webhook</a:t>
            </a:r>
          </a:p>
          <a:p>
            <a:r>
              <a:rPr lang="en-IN" noProof="0" dirty="0"/>
              <a:t>HTTP Method: POST</a:t>
            </a:r>
          </a:p>
          <a:p>
            <a:r>
              <a:rPr lang="en-IN" noProof="0" dirty="0"/>
              <a:t>Click on Production URL and copy it and save it somewhere</a:t>
            </a:r>
          </a:p>
          <a:p>
            <a:r>
              <a:rPr lang="en-IN" noProof="0" dirty="0"/>
              <a:t>Add + to attach a node to the Webhook and type “search”</a:t>
            </a:r>
          </a:p>
          <a:p>
            <a:r>
              <a:rPr lang="en-IN" noProof="0" dirty="0"/>
              <a:t>Select “Google Search Console” and install</a:t>
            </a:r>
          </a:p>
          <a:p>
            <a:r>
              <a:rPr lang="en-IN" noProof="0" dirty="0"/>
              <a:t>Now in the search box, </a:t>
            </a:r>
            <a:r>
              <a:rPr lang="en-IN" noProof="0" dirty="0" err="1"/>
              <a:t>SerpAPI</a:t>
            </a:r>
            <a:r>
              <a:rPr lang="en-IN" noProof="0" dirty="0"/>
              <a:t> Official should appear -&gt; Select it</a:t>
            </a:r>
          </a:p>
          <a:p>
            <a:r>
              <a:rPr lang="en-IN" noProof="0" dirty="0"/>
              <a:t>Actions -&gt; Search Amazon</a:t>
            </a:r>
          </a:p>
          <a:p>
            <a:r>
              <a:rPr lang="en-IN" noProof="0" dirty="0"/>
              <a:t>Search query -&gt; Keep blank</a:t>
            </a:r>
          </a:p>
          <a:p>
            <a:r>
              <a:rPr lang="en-IN" noProof="0" dirty="0"/>
              <a:t>Domain: amazon.in</a:t>
            </a:r>
          </a:p>
          <a:p>
            <a:r>
              <a:rPr lang="en-IN" noProof="0" dirty="0"/>
              <a:t>Open Postman (We would need local download, since for localhost, the web version does not work) … See next slide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0F369-809E-F774-3FF2-F0C423AB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799" y="765706"/>
            <a:ext cx="2700846" cy="16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07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0B5C-8409-65C6-BA6C-1D406ABE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3_webhook_search_amazon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89EB-5DA8-59D7-6ED3-F29CA5694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noProof="0" dirty="0"/>
              <a:t>Click the run button on the Webhook</a:t>
            </a:r>
          </a:p>
          <a:p>
            <a:r>
              <a:rPr lang="en-IN" noProof="0" dirty="0"/>
              <a:t>It will say </a:t>
            </a:r>
            <a:r>
              <a:rPr lang="en-IN" i="1" noProof="0" dirty="0"/>
              <a:t>Waiting for the trigger event</a:t>
            </a:r>
            <a:endParaRPr lang="en-IN" noProof="0" dirty="0"/>
          </a:p>
          <a:p>
            <a:r>
              <a:rPr lang="en-IN" noProof="0" dirty="0"/>
              <a:t>Double click on the Webhook and copy the URL where it is listening </a:t>
            </a:r>
          </a:p>
          <a:p>
            <a:r>
              <a:rPr lang="en-IN" noProof="0" dirty="0"/>
              <a:t>Open Postman (We would need local download, since for localhost, the web version does not work)</a:t>
            </a:r>
          </a:p>
          <a:p>
            <a:r>
              <a:rPr lang="en-IN" noProof="0" dirty="0"/>
              <a:t>In a new workspace, create POST and paste the URL</a:t>
            </a:r>
          </a:p>
          <a:p>
            <a:r>
              <a:rPr lang="en-IN" noProof="0" dirty="0"/>
              <a:t>Body-Raw-JSON-&gt;JSON and paste this:</a:t>
            </a:r>
          </a:p>
          <a:p>
            <a:r>
              <a:rPr lang="en-IN" noProof="0" dirty="0"/>
              <a:t>{</a:t>
            </a:r>
          </a:p>
          <a:p>
            <a:r>
              <a:rPr lang="en-IN" noProof="0" dirty="0"/>
              <a:t>    "book": "Geoffrey Hinton"</a:t>
            </a:r>
          </a:p>
          <a:p>
            <a:r>
              <a:rPr lang="en-IN" noProof="0" dirty="0"/>
              <a:t>}</a:t>
            </a:r>
          </a:p>
          <a:p>
            <a:r>
              <a:rPr lang="en-IN" noProof="0" dirty="0"/>
              <a:t>Try sending</a:t>
            </a:r>
          </a:p>
          <a:p>
            <a:r>
              <a:rPr lang="en-IN" noProof="0" dirty="0"/>
              <a:t>If it succeeds, come back to n8n … See next slide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CFDAB-9611-E0BF-AAC7-1B8F7178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882" y="1226816"/>
            <a:ext cx="832544" cy="119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8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80C6E-959B-0157-D4D0-7DD24499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1433-C1F4-01A2-74DF-FDA06CF3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3_webhook_search_amazon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8DC0A-D832-E015-F1C3-706A58477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Now drag the </a:t>
            </a:r>
            <a:r>
              <a:rPr lang="en-IN" i="1" noProof="0" dirty="0"/>
              <a:t>body</a:t>
            </a:r>
            <a:r>
              <a:rPr lang="en-IN" noProof="0" dirty="0"/>
              <a:t> of Webhook to Amazon Search and do a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52EA5-9881-9915-6E40-F352CA8F0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05" y="2489663"/>
            <a:ext cx="7444353" cy="436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9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FABD-6BDF-0D2E-9FD7-376EA827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5_read_cheque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D78C-65D6-4D2D-CB5B-E1BFFD11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noProof="0" dirty="0"/>
              <a:t>Sign up on </a:t>
            </a:r>
            <a:r>
              <a:rPr lang="en-IN" noProof="0" dirty="0" err="1"/>
              <a:t>airtable</a:t>
            </a:r>
            <a:endParaRPr lang="en-IN" noProof="0" dirty="0"/>
          </a:p>
          <a:p>
            <a:r>
              <a:rPr lang="en-IN" dirty="0"/>
              <a:t>Create a new workspace and name it as n8n</a:t>
            </a:r>
          </a:p>
          <a:p>
            <a:r>
              <a:rPr lang="en-IN" noProof="0" dirty="0"/>
              <a:t>Create a new base (like Database) named </a:t>
            </a:r>
            <a:r>
              <a:rPr lang="en-IN" noProof="0" dirty="0" err="1"/>
              <a:t>cheques_data</a:t>
            </a:r>
            <a:endParaRPr lang="en-IN" noProof="0" dirty="0"/>
          </a:p>
          <a:p>
            <a:r>
              <a:rPr lang="en-IN" dirty="0"/>
              <a:t>Open </a:t>
            </a:r>
            <a:r>
              <a:rPr lang="en-IN" dirty="0" err="1"/>
              <a:t>cheques_data</a:t>
            </a:r>
            <a:r>
              <a:rPr lang="en-IN" dirty="0"/>
              <a:t> and create a table named cheque: Columns id, payer, payee, </a:t>
            </a:r>
            <a:r>
              <a:rPr lang="en-IN" dirty="0" err="1"/>
              <a:t>cheque_date</a:t>
            </a:r>
            <a:r>
              <a:rPr lang="en-IN" dirty="0"/>
              <a:t>, amount, bank, raw</a:t>
            </a:r>
          </a:p>
          <a:p>
            <a:r>
              <a:rPr lang="en-IN" dirty="0"/>
              <a:t>On the n8n Screen, click on your account icon (bottom left) -&gt; Builder hub -&gt; Create token -&gt; name as n8n -&gt; Scopes: </a:t>
            </a:r>
            <a:r>
              <a:rPr lang="en-IN" dirty="0" err="1"/>
              <a:t>data.records:write</a:t>
            </a:r>
            <a:r>
              <a:rPr lang="en-IN" dirty="0"/>
              <a:t> and </a:t>
            </a:r>
            <a:r>
              <a:rPr lang="en-IN" dirty="0" err="1"/>
              <a:t>schema.bases:read</a:t>
            </a:r>
            <a:r>
              <a:rPr lang="en-IN" dirty="0"/>
              <a:t> -&gt; Access: n8n-cheques_data</a:t>
            </a:r>
          </a:p>
          <a:p>
            <a:r>
              <a:rPr lang="en-IN" dirty="0"/>
              <a:t>Copy the token -&gt; Come back to n8n -&gt; Select n8n -&gt; Create a record -&gt; Add details</a:t>
            </a:r>
          </a:p>
          <a:p>
            <a:r>
              <a:rPr lang="en-IN" dirty="0"/>
              <a:t>See next slide for all screens</a:t>
            </a:r>
          </a:p>
          <a:p>
            <a:endParaRPr lang="en-IN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80945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671A-1AFA-2186-F73A-D20D1AE5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795"/>
            <a:ext cx="10515600" cy="617241"/>
          </a:xfrm>
        </p:spPr>
        <p:txBody>
          <a:bodyPr>
            <a:normAutofit fontScale="90000"/>
          </a:bodyPr>
          <a:lstStyle/>
          <a:p>
            <a:r>
              <a:rPr lang="en-IN" dirty="0"/>
              <a:t>5_read_cheque (JavaScript Code – Next Slide)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0B64D-3CFF-45E9-2385-33477EDBA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809"/>
            <a:ext cx="10515600" cy="5390154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453B9-71DE-10E5-F2E2-7AF2E8117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524212"/>
            <a:ext cx="12192000" cy="1604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F75EF-7639-1AFF-066E-D5DBE84B6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1" y="2071301"/>
            <a:ext cx="2686496" cy="4568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C94661-F04D-97CA-8491-7EFA2E282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087" y="2113051"/>
            <a:ext cx="2991876" cy="4079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F85C1-441B-BC00-45CA-C6739A0E8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63" y="2063269"/>
            <a:ext cx="2597722" cy="4794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06615A-2ACA-3C5F-E76F-398EC5DE0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0106" y="2128497"/>
            <a:ext cx="2891470" cy="504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42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7E94-D5FF-630D-4C21-22723690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5_cheque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10A63-1393-65CD-3CA4-11602627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1. READ TEXT FROM YOUR JSON STRUCTURE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 err="1"/>
              <a:t>const</a:t>
            </a:r>
            <a:r>
              <a:rPr lang="en-GB" dirty="0"/>
              <a:t> text =</a:t>
            </a:r>
          </a:p>
          <a:p>
            <a:r>
              <a:rPr lang="en-GB" dirty="0"/>
              <a:t>  item.</a:t>
            </a:r>
            <a:r>
              <a:rPr lang="en-GB" dirty="0" err="1"/>
              <a:t>json</a:t>
            </a:r>
            <a:r>
              <a:rPr lang="en-GB" dirty="0"/>
              <a:t>?.candidates?.[0]?.</a:t>
            </a:r>
            <a:r>
              <a:rPr lang="en-GB" dirty="0" err="1"/>
              <a:t>content?.parts</a:t>
            </a:r>
            <a:r>
              <a:rPr lang="en-GB" dirty="0"/>
              <a:t>?.[0]?.text || "";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2. SPLIT INTO LINES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 err="1"/>
              <a:t>const</a:t>
            </a:r>
            <a:r>
              <a:rPr lang="en-GB" dirty="0"/>
              <a:t> lines = </a:t>
            </a:r>
            <a:r>
              <a:rPr lang="en-GB" dirty="0" err="1"/>
              <a:t>text.split</a:t>
            </a:r>
            <a:r>
              <a:rPr lang="en-GB" dirty="0"/>
              <a:t>("\n");</a:t>
            </a:r>
          </a:p>
          <a:p>
            <a:endParaRPr lang="en-GB" dirty="0"/>
          </a:p>
          <a:p>
            <a:r>
              <a:rPr lang="en-GB" dirty="0"/>
              <a:t>function </a:t>
            </a:r>
            <a:r>
              <a:rPr lang="en-GB" dirty="0" err="1"/>
              <a:t>getValue</a:t>
            </a:r>
            <a:r>
              <a:rPr lang="en-GB" dirty="0"/>
              <a:t>(label) {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line = </a:t>
            </a:r>
            <a:r>
              <a:rPr lang="en-GB" dirty="0" err="1"/>
              <a:t>lines.find</a:t>
            </a:r>
            <a:r>
              <a:rPr lang="en-GB" dirty="0"/>
              <a:t>(</a:t>
            </a:r>
          </a:p>
          <a:p>
            <a:r>
              <a:rPr lang="en-GB" dirty="0"/>
              <a:t>    l =&gt; </a:t>
            </a:r>
            <a:r>
              <a:rPr lang="en-GB" dirty="0" err="1"/>
              <a:t>l.toLowerCase</a:t>
            </a:r>
            <a:r>
              <a:rPr lang="en-GB" dirty="0"/>
              <a:t>().</a:t>
            </a:r>
            <a:r>
              <a:rPr lang="en-GB" dirty="0" err="1"/>
              <a:t>startsWith</a:t>
            </a:r>
            <a:r>
              <a:rPr lang="en-GB" dirty="0"/>
              <a:t>(</a:t>
            </a:r>
            <a:r>
              <a:rPr lang="en-GB" dirty="0" err="1"/>
              <a:t>label.toLowerCase</a:t>
            </a:r>
            <a:r>
              <a:rPr lang="en-GB" dirty="0"/>
              <a:t>())</a:t>
            </a:r>
          </a:p>
          <a:p>
            <a:r>
              <a:rPr lang="en-GB" dirty="0"/>
              <a:t>  );</a:t>
            </a:r>
          </a:p>
          <a:p>
            <a:r>
              <a:rPr lang="en-GB" dirty="0"/>
              <a:t>  if (!line) return "";</a:t>
            </a:r>
          </a:p>
          <a:p>
            <a:r>
              <a:rPr lang="en-GB" dirty="0"/>
              <a:t>  return </a:t>
            </a:r>
            <a:r>
              <a:rPr lang="en-GB" dirty="0" err="1"/>
              <a:t>line.split</a:t>
            </a:r>
            <a:r>
              <a:rPr lang="en-GB" dirty="0"/>
              <a:t>(":")[1].trim();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3. EXTRACT FIELDS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 err="1"/>
              <a:t>const</a:t>
            </a:r>
            <a:r>
              <a:rPr lang="en-GB" dirty="0"/>
              <a:t> payer = </a:t>
            </a:r>
            <a:r>
              <a:rPr lang="en-GB" dirty="0" err="1"/>
              <a:t>getValue</a:t>
            </a:r>
            <a:r>
              <a:rPr lang="en-GB" dirty="0"/>
              <a:t>("Payer name");</a:t>
            </a:r>
          </a:p>
          <a:p>
            <a:r>
              <a:rPr lang="en-GB" dirty="0" err="1"/>
              <a:t>const</a:t>
            </a:r>
            <a:r>
              <a:rPr lang="en-GB" dirty="0"/>
              <a:t> payee = </a:t>
            </a:r>
            <a:r>
              <a:rPr lang="en-GB" dirty="0" err="1"/>
              <a:t>getValue</a:t>
            </a:r>
            <a:r>
              <a:rPr lang="en-GB" dirty="0"/>
              <a:t>("Payee name");</a:t>
            </a:r>
          </a:p>
          <a:p>
            <a:endParaRPr lang="en-GB" dirty="0"/>
          </a:p>
          <a:p>
            <a:r>
              <a:rPr lang="en-GB" dirty="0"/>
              <a:t>// Amount</a:t>
            </a:r>
          </a:p>
          <a:p>
            <a:r>
              <a:rPr lang="en-GB" dirty="0"/>
              <a:t>let </a:t>
            </a:r>
            <a:r>
              <a:rPr lang="en-GB" dirty="0" err="1"/>
              <a:t>amountRaw</a:t>
            </a:r>
            <a:r>
              <a:rPr lang="en-GB" dirty="0"/>
              <a:t> = </a:t>
            </a:r>
            <a:r>
              <a:rPr lang="en-GB" dirty="0" err="1"/>
              <a:t>getValue</a:t>
            </a:r>
            <a:r>
              <a:rPr lang="en-GB" dirty="0"/>
              <a:t>("Amount");</a:t>
            </a:r>
          </a:p>
          <a:p>
            <a:r>
              <a:rPr lang="en-GB" dirty="0"/>
              <a:t>let amount = null;</a:t>
            </a:r>
          </a:p>
          <a:p>
            <a:r>
              <a:rPr lang="en-GB" dirty="0"/>
              <a:t>if (</a:t>
            </a:r>
            <a:r>
              <a:rPr lang="en-GB" dirty="0" err="1"/>
              <a:t>amountRaw</a:t>
            </a:r>
            <a:r>
              <a:rPr lang="en-GB" dirty="0"/>
              <a:t>) {</a:t>
            </a:r>
          </a:p>
          <a:p>
            <a:r>
              <a:rPr lang="en-GB" dirty="0"/>
              <a:t>  amount = </a:t>
            </a:r>
            <a:r>
              <a:rPr lang="en-GB" dirty="0" err="1"/>
              <a:t>parseFloat</a:t>
            </a:r>
            <a:r>
              <a:rPr lang="en-GB" dirty="0"/>
              <a:t>(</a:t>
            </a:r>
            <a:r>
              <a:rPr lang="en-GB" dirty="0" err="1"/>
              <a:t>amountRaw.replace</a:t>
            </a:r>
            <a:r>
              <a:rPr lang="en-GB" dirty="0"/>
              <a:t>(/,/g, "").trim());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4. DATE FORMAT FIX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function </a:t>
            </a:r>
            <a:r>
              <a:rPr lang="en-GB" dirty="0" err="1"/>
              <a:t>formatDate</a:t>
            </a:r>
            <a:r>
              <a:rPr lang="en-GB" dirty="0"/>
              <a:t>(d) {</a:t>
            </a:r>
          </a:p>
          <a:p>
            <a:r>
              <a:rPr lang="en-GB" dirty="0"/>
              <a:t>  if (!d) return null;</a:t>
            </a:r>
          </a:p>
          <a:p>
            <a:endParaRPr lang="en-GB" dirty="0"/>
          </a:p>
          <a:p>
            <a:r>
              <a:rPr lang="en-GB" dirty="0"/>
              <a:t>  // Already ISO YYYY-MM-DD</a:t>
            </a:r>
          </a:p>
          <a:p>
            <a:r>
              <a:rPr lang="en-GB" dirty="0"/>
              <a:t>  if (/^\d{4}-\d{2}-\d{2}$/.test(d)) return d;</a:t>
            </a:r>
          </a:p>
          <a:p>
            <a:endParaRPr lang="en-GB" dirty="0"/>
          </a:p>
          <a:p>
            <a:r>
              <a:rPr lang="en-GB" dirty="0"/>
              <a:t>  // DD/MM/YYYY or DD-MM-YYYY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m = </a:t>
            </a:r>
            <a:r>
              <a:rPr lang="en-GB" dirty="0" err="1"/>
              <a:t>d.match</a:t>
            </a:r>
            <a:r>
              <a:rPr lang="en-GB" dirty="0"/>
              <a:t>(/(\d{1,2})[\/-](\d{1,2})[\/-](\d{4})/);</a:t>
            </a:r>
          </a:p>
          <a:p>
            <a:r>
              <a:rPr lang="en-GB" dirty="0"/>
              <a:t>  if (m) {</a:t>
            </a:r>
          </a:p>
          <a:p>
            <a:r>
              <a:rPr lang="en-GB" dirty="0"/>
              <a:t>    </a:t>
            </a:r>
            <a:r>
              <a:rPr lang="en-GB" dirty="0" err="1"/>
              <a:t>const</a:t>
            </a:r>
            <a:r>
              <a:rPr lang="en-GB" dirty="0"/>
              <a:t> [_, dd, mm, </a:t>
            </a:r>
            <a:r>
              <a:rPr lang="en-GB" dirty="0" err="1"/>
              <a:t>yy</a:t>
            </a:r>
            <a:r>
              <a:rPr lang="en-GB" dirty="0"/>
              <a:t>] = m;</a:t>
            </a:r>
          </a:p>
          <a:p>
            <a:r>
              <a:rPr lang="en-GB" dirty="0"/>
              <a:t>    return `${</a:t>
            </a:r>
            <a:r>
              <a:rPr lang="en-GB" dirty="0" err="1"/>
              <a:t>yy</a:t>
            </a:r>
            <a:r>
              <a:rPr lang="en-GB" dirty="0"/>
              <a:t>}-${</a:t>
            </a:r>
            <a:r>
              <a:rPr lang="en-GB" dirty="0" err="1"/>
              <a:t>mm.padStart</a:t>
            </a:r>
            <a:r>
              <a:rPr lang="en-GB" dirty="0"/>
              <a:t>(2, "0")}-${</a:t>
            </a:r>
            <a:r>
              <a:rPr lang="en-GB" dirty="0" err="1"/>
              <a:t>dd.padStart</a:t>
            </a:r>
            <a:r>
              <a:rPr lang="en-GB" dirty="0"/>
              <a:t>(2, "0")}`;</a:t>
            </a:r>
          </a:p>
          <a:p>
            <a:r>
              <a:rPr lang="en-GB" dirty="0"/>
              <a:t>  }</a:t>
            </a:r>
          </a:p>
          <a:p>
            <a:endParaRPr lang="en-GB" dirty="0"/>
          </a:p>
          <a:p>
            <a:r>
              <a:rPr lang="en-GB" dirty="0"/>
              <a:t>  return null;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cheque_date</a:t>
            </a:r>
            <a:r>
              <a:rPr lang="en-GB" dirty="0"/>
              <a:t> = </a:t>
            </a:r>
            <a:r>
              <a:rPr lang="en-GB" dirty="0" err="1"/>
              <a:t>formatDate</a:t>
            </a:r>
            <a:r>
              <a:rPr lang="en-GB" dirty="0"/>
              <a:t>(</a:t>
            </a:r>
            <a:r>
              <a:rPr lang="en-GB" dirty="0" err="1"/>
              <a:t>getValue</a:t>
            </a:r>
            <a:r>
              <a:rPr lang="en-GB" dirty="0"/>
              <a:t>("Date"));</a:t>
            </a:r>
          </a:p>
          <a:p>
            <a:r>
              <a:rPr lang="en-GB" dirty="0" err="1"/>
              <a:t>const</a:t>
            </a:r>
            <a:r>
              <a:rPr lang="en-GB" dirty="0"/>
              <a:t> bank = </a:t>
            </a:r>
            <a:r>
              <a:rPr lang="en-GB" dirty="0" err="1"/>
              <a:t>getValue</a:t>
            </a:r>
            <a:r>
              <a:rPr lang="en-GB" dirty="0"/>
              <a:t>("Bank");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5. RETURN CLEAN JSON (ALL FIELDS AT TOP LEVEL)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return {</a:t>
            </a:r>
          </a:p>
          <a:p>
            <a:r>
              <a:rPr lang="en-GB" dirty="0"/>
              <a:t>  </a:t>
            </a:r>
            <a:r>
              <a:rPr lang="en-GB" dirty="0" err="1"/>
              <a:t>json</a:t>
            </a:r>
            <a:r>
              <a:rPr lang="en-GB" dirty="0"/>
              <a:t>: {</a:t>
            </a:r>
          </a:p>
          <a:p>
            <a:r>
              <a:rPr lang="en-GB" dirty="0"/>
              <a:t>    payer,</a:t>
            </a:r>
          </a:p>
          <a:p>
            <a:r>
              <a:rPr lang="en-GB" dirty="0"/>
              <a:t>    payee,</a:t>
            </a:r>
          </a:p>
          <a:p>
            <a:r>
              <a:rPr lang="en-GB" dirty="0"/>
              <a:t>    amount,</a:t>
            </a:r>
          </a:p>
          <a:p>
            <a:r>
              <a:rPr lang="en-GB" dirty="0"/>
              <a:t>    bank,</a:t>
            </a:r>
          </a:p>
          <a:p>
            <a:r>
              <a:rPr lang="en-GB" dirty="0"/>
              <a:t>    </a:t>
            </a:r>
            <a:r>
              <a:rPr lang="en-GB" dirty="0" err="1"/>
              <a:t>cheque_date</a:t>
            </a:r>
            <a:r>
              <a:rPr lang="en-GB" dirty="0"/>
              <a:t>,   // date at top level</a:t>
            </a:r>
          </a:p>
          <a:p>
            <a:r>
              <a:rPr lang="en-GB" dirty="0"/>
              <a:t>    raw: text</a:t>
            </a:r>
          </a:p>
          <a:p>
            <a:r>
              <a:rPr lang="en-GB" dirty="0"/>
              <a:t> 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359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1A8F-374E-16A5-8457-A3A99824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Google Credentials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836B-EE28-BAA4-CD93-0C3824FA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In n8n, on a new workflow screen, search for google drive select Triggers -&gt; On changes involving a specific folder</a:t>
            </a:r>
          </a:p>
          <a:p>
            <a:r>
              <a:rPr lang="en-IN" noProof="0" dirty="0"/>
              <a:t>Credentials to connect with -&gt; Create new credential</a:t>
            </a:r>
          </a:p>
          <a:p>
            <a:r>
              <a:rPr lang="en-IN" noProof="0" dirty="0"/>
              <a:t>In the browser: console.cloud.google.com -&gt; API and services -&gt; Click on My first project -&gt; New project -&gt; Project name: n8ndemo -&gt; Location: Do not change -&gt; Create</a:t>
            </a:r>
          </a:p>
          <a:p>
            <a:r>
              <a:rPr lang="en-IN" noProof="0" dirty="0"/>
              <a:t>Select n8ndemo -&gt; Enable APIs and services -&gt; Google Drive API -&gt; Enable</a:t>
            </a:r>
          </a:p>
          <a:p>
            <a:r>
              <a:rPr lang="en-IN" noProof="0" dirty="0"/>
              <a:t>Credentials -&gt; Create credentials -&gt; OAuth Client ID -&gt; Configure consent screen -&gt; Get started</a:t>
            </a:r>
          </a:p>
          <a:p>
            <a:r>
              <a:rPr lang="en-IN" noProof="0" dirty="0"/>
              <a:t>App name: n8n-app -&gt; Email: Our email id -&gt; Next -&gt; Audience: External -&gt; Next -&gt; Contact information -&gt; Our email id -&gt; Next -&gt; Agree -&gt; Continue -&gt; Create</a:t>
            </a:r>
          </a:p>
          <a:p>
            <a:r>
              <a:rPr lang="en-IN" noProof="0" dirty="0"/>
              <a:t>Audience -&gt; Add users -&gt; Our email id</a:t>
            </a:r>
          </a:p>
          <a:p>
            <a:r>
              <a:rPr lang="en-IN" noProof="0" dirty="0"/>
              <a:t>Clients -&gt; Create client -&gt; Application type: Web application -&gt; Authorized Redirect URIs -&gt; Copy paste from n8n screen -&gt; Create -&gt; Copy client id and Client secret and paste in n8n screen</a:t>
            </a:r>
          </a:p>
          <a:p>
            <a:r>
              <a:rPr lang="en-IN" noProof="0" dirty="0"/>
              <a:t>On the google page -&gt; Search for </a:t>
            </a:r>
            <a:r>
              <a:rPr lang="en-IN" noProof="0" dirty="0" err="1"/>
              <a:t>gmail</a:t>
            </a:r>
            <a:r>
              <a:rPr lang="en-IN" noProof="0" dirty="0"/>
              <a:t> -&gt; Enable … Repeat for Sheets, Calendar</a:t>
            </a:r>
          </a:p>
          <a:p>
            <a:r>
              <a:rPr lang="en-IN" noProof="0" dirty="0"/>
              <a:t>Now n8n screen again -&gt; Save and test connection</a:t>
            </a:r>
          </a:p>
        </p:txBody>
      </p:sp>
    </p:spTree>
    <p:extLst>
      <p:ext uri="{BB962C8B-B14F-4D97-AF65-F5344CB8AC3E}">
        <p14:creationId xmlns:p14="http://schemas.microsoft.com/office/powerpoint/2010/main" val="3662757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CCF4-3235-056E-56E3-CF8CE9E2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Discord Setup (If Needed)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4870-1F13-4643-0335-DFE70A96C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Create a new account on Discord, or log in</a:t>
            </a:r>
          </a:p>
          <a:p>
            <a:r>
              <a:rPr lang="en-IN" noProof="0" dirty="0"/>
              <a:t>Create a new channel named n8n</a:t>
            </a:r>
          </a:p>
          <a:p>
            <a:r>
              <a:rPr lang="en-IN" noProof="0" dirty="0"/>
              <a:t>Click the edit channel button next to the channel name</a:t>
            </a:r>
          </a:p>
          <a:p>
            <a:r>
              <a:rPr lang="en-IN" noProof="0" dirty="0"/>
              <a:t>Integrations -&gt; Webhooks -&gt; New Webhook -&gt; Spidey Bot -&gt; Copy Webhook URL</a:t>
            </a:r>
          </a:p>
          <a:p>
            <a:r>
              <a:rPr lang="en-IN" noProof="0" dirty="0"/>
              <a:t>In n8n integration for Discord, Connection type: Webhook -&gt; Create new credentials -&gt; Paste the above Webhook URL from Discord</a:t>
            </a:r>
          </a:p>
          <a:p>
            <a:r>
              <a:rPr lang="en-IN" noProof="0" dirty="0"/>
              <a:t>Operation -&gt; Send a message</a:t>
            </a:r>
          </a:p>
        </p:txBody>
      </p:sp>
    </p:spTree>
    <p:extLst>
      <p:ext uri="{BB962C8B-B14F-4D97-AF65-F5344CB8AC3E}">
        <p14:creationId xmlns:p14="http://schemas.microsoft.com/office/powerpoint/2010/main" val="1406343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4521-DA4A-C0F9-E5EC-587137FF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and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F2F7-67A1-D665-788F-F0CBDC8CA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To connect n8n to an LLM</a:t>
            </a:r>
          </a:p>
          <a:p>
            <a:pPr lvl="1"/>
            <a:r>
              <a:rPr lang="en-IN" noProof="0" dirty="0"/>
              <a:t>First add a chat trigger node</a:t>
            </a:r>
          </a:p>
          <a:p>
            <a:pPr lvl="1"/>
            <a:r>
              <a:rPr lang="en-IN" noProof="0" dirty="0"/>
              <a:t>Then add an agent node</a:t>
            </a:r>
          </a:p>
          <a:p>
            <a:r>
              <a:rPr lang="en-IN" noProof="0" dirty="0"/>
              <a:t>For using local Ollama with n8n running as a Docker container</a:t>
            </a:r>
          </a:p>
          <a:p>
            <a:pPr lvl="1"/>
            <a:r>
              <a:rPr lang="en-IN" noProof="0" dirty="0"/>
              <a:t>For the Ollama account setup on n8n</a:t>
            </a:r>
          </a:p>
          <a:p>
            <a:pPr lvl="2"/>
            <a:r>
              <a:rPr lang="en-IN" noProof="0" dirty="0"/>
              <a:t>Create new credential -&gt; Base URL: http://host.docker.internal:11434 -&gt; API key: </a:t>
            </a:r>
            <a:r>
              <a:rPr lang="en-IN" noProof="0" dirty="0" err="1"/>
              <a:t>ollama</a:t>
            </a:r>
            <a:r>
              <a:rPr lang="en-IN" noProof="0" dirty="0"/>
              <a:t> -&gt; Model: llama 3.2 (Or whatever we have downloaded on our machine)</a:t>
            </a:r>
          </a:p>
          <a:p>
            <a:pPr lvl="1"/>
            <a:endParaRPr lang="en-IN" noProof="0" dirty="0"/>
          </a:p>
          <a:p>
            <a:pPr lvl="2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6427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1688</Words>
  <Application>Microsoft Office PowerPoint</Application>
  <PresentationFormat>Widescreen</PresentationFormat>
  <Paragraphs>201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7) n8n</vt:lpstr>
      <vt:lpstr>n8n Basics</vt:lpstr>
      <vt:lpstr>Using/Installing n8n</vt:lpstr>
      <vt:lpstr>n8n Using Docker</vt:lpstr>
      <vt:lpstr>n8n Examples</vt:lpstr>
      <vt:lpstr>1_basic_chatbot</vt:lpstr>
      <vt:lpstr>3_webhook_search_amazon</vt:lpstr>
      <vt:lpstr>3_webhook_search_amazon</vt:lpstr>
      <vt:lpstr>3_webhook_search_amazon</vt:lpstr>
      <vt:lpstr>5_read_cheque</vt:lpstr>
      <vt:lpstr>5_read_cheque (JavaScript Code – Next Slide)</vt:lpstr>
      <vt:lpstr>5_cheque</vt:lpstr>
      <vt:lpstr>Google Credentials Setup</vt:lpstr>
      <vt:lpstr>Discord Setup (If Needed)</vt:lpstr>
      <vt:lpstr>n8n and LLM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</cp:revision>
  <dcterms:created xsi:type="dcterms:W3CDTF">2025-11-18T13:34:29Z</dcterms:created>
  <dcterms:modified xsi:type="dcterms:W3CDTF">2025-11-18T13:35:26Z</dcterms:modified>
</cp:coreProperties>
</file>